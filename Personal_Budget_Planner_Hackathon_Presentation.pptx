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548640"/>
            <a:ext cx="1737360" cy="1737360"/>
          </a:xfrm>
          <a:prstGeom prst="ellipse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1417320"/>
            <a:ext cx="822960" cy="822960"/>
          </a:xfrm>
          <a:prstGeom prst="ellipse">
            <a:avLst/>
          </a:prstGeom>
          <a:solidFill>
            <a:srgbClr val="3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1920240"/>
            <a:ext cx="594360" cy="59436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FAAFF"/>
                </a:solidFill>
                <a:latin typeface="Aptos"/>
              </a:rPr>
              <a:t>PERSONAL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EFF4FA"/>
                </a:solidFill>
                <a:latin typeface="Aptos"/>
              </a:rPr>
              <a:t>BUDGET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788920"/>
            <a:ext cx="6675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6B4C4"/>
                </a:solidFill>
                <a:latin typeface="Aptos"/>
              </a:rPr>
              <a:t>A simple, persistent and visual way to take control of monthly spending.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886200"/>
            <a:ext cx="2240280" cy="123444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3886200"/>
            <a:ext cx="54864" cy="1234440"/>
          </a:xfrm>
          <a:prstGeom prst="rect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050791"/>
            <a:ext cx="18562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489704"/>
            <a:ext cx="185623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Set a monthly spending limit.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3886200"/>
            <a:ext cx="2240280" cy="123444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3886200"/>
            <a:ext cx="54864" cy="1234440"/>
          </a:xfrm>
          <a:prstGeom prst="rect">
            <a:avLst/>
          </a:prstGeom>
          <a:solidFill>
            <a:srgbClr val="3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4050791"/>
            <a:ext cx="18562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4489704"/>
            <a:ext cx="185623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Log expenses with category, date and description.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2" y="3886200"/>
            <a:ext cx="2240280" cy="123444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59552" y="3886200"/>
            <a:ext cx="54864" cy="123444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4050791"/>
            <a:ext cx="18562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Understand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489704"/>
            <a:ext cx="185623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See totals, remaining budget and category spending.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9788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Python  •  Streamlit  •  Persistent CSV/JSON storage  •  IBM AI/Cloud capabilities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4FA"/>
                </a:solidFill>
                <a:latin typeface="Aptos"/>
              </a:rPr>
              <a:t>01  |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4C4"/>
                </a:solidFill>
                <a:latin typeface="Aptos"/>
              </a:rPr>
              <a:t>Why everyday personal finance management is still difficult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35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FF4FA"/>
                </a:solidFill>
                <a:latin typeface="Aptos"/>
              </a:rPr>
              <a:t>In today’s fast-paced digital economy, many individuals—especially students and young professionals—struggle to achieve financial stability due to a lack of visibility and real-time control over daily spending.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10835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4C4"/>
                </a:solidFill>
                <a:latin typeface="Aptos"/>
              </a:rPr>
              <a:t>Traditional methods such as spreadsheets or paper notebooks are tedious, prone to human error, and often fail to provide actionable insights or visual breakdowns of recurring versus discretionary spending.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069080"/>
            <a:ext cx="3429000" cy="123444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069080"/>
            <a:ext cx="54864" cy="1234440"/>
          </a:xfrm>
          <a:prstGeom prst="rect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4233672"/>
            <a:ext cx="30449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Visibility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672584"/>
            <a:ext cx="30449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Users often do not know where their money is going until the month is nearly 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069080"/>
            <a:ext cx="3429000" cy="123444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4069080"/>
            <a:ext cx="54864" cy="123444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233672"/>
            <a:ext cx="30449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Manual 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672584"/>
            <a:ext cx="30449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Paper notes and spreadsheets require continuous effort and maintenance.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4069080"/>
            <a:ext cx="3429000" cy="123444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4069080"/>
            <a:ext cx="54864" cy="1234440"/>
          </a:xfrm>
          <a:prstGeom prst="rect">
            <a:avLst/>
          </a:prstGeom>
          <a:solidFill>
            <a:srgbClr val="FF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4233672"/>
            <a:ext cx="30449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No Actionable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4672584"/>
            <a:ext cx="3044952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Raw spending records do not automatically become useful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6B4C4"/>
                </a:solidFill>
                <a:latin typeface="Aptos"/>
              </a:rPr>
              <a:t>PERSONAL BUDGET PLANNER  •  HACKATHON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4FA"/>
                </a:solidFill>
                <a:latin typeface="Aptos"/>
              </a:rPr>
              <a:t>01  |  Specific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4C4"/>
                </a:solidFill>
                <a:latin typeface="Aptos"/>
              </a:rPr>
              <a:t>The gaps identified in the existing budgeting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257800" cy="114300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54864" cy="1143000"/>
          </a:xfrm>
          <a:prstGeom prst="rect">
            <a:avLst/>
          </a:prstGeom>
          <a:solidFill>
            <a:srgbClr val="FF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73351"/>
            <a:ext cx="48737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No budget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12264"/>
            <a:ext cx="487375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No clear monthly spending limit is 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57800" cy="114300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54864" cy="1143000"/>
          </a:xfrm>
          <a:prstGeom prst="rect">
            <a:avLst/>
          </a:prstGeom>
          <a:solidFill>
            <a:srgbClr val="FF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73351"/>
            <a:ext cx="48737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No expense logging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12264"/>
            <a:ext cx="487375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Spending is forgotten or not recorded.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5257800" cy="114300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63240"/>
            <a:ext cx="54864" cy="1143000"/>
          </a:xfrm>
          <a:prstGeom prst="rect">
            <a:avLst/>
          </a:prstGeom>
          <a:solidFill>
            <a:srgbClr val="FF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27832"/>
            <a:ext cx="48737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No category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666744"/>
            <a:ext cx="487375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Users cannot quickly see which area costs the most.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63240"/>
            <a:ext cx="5257800" cy="114300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063240"/>
            <a:ext cx="54864" cy="1143000"/>
          </a:xfrm>
          <a:prstGeom prst="rect">
            <a:avLst/>
          </a:prstGeom>
          <a:solidFill>
            <a:srgbClr val="FF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227832"/>
            <a:ext cx="48737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No overspend 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666744"/>
            <a:ext cx="487375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No alert when the budget is exceeded.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5257800" cy="114300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617720"/>
            <a:ext cx="54864" cy="1143000"/>
          </a:xfrm>
          <a:prstGeom prst="rect">
            <a:avLst/>
          </a:prstGeom>
          <a:solidFill>
            <a:srgbClr val="FF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782312"/>
            <a:ext cx="48737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Limited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221224"/>
            <a:ext cx="487375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Only Food, Travel, Shopping and Education were available; Healthcare and Entertainment were missing.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6B4C4"/>
                </a:solidFill>
                <a:latin typeface="Aptos"/>
              </a:rPr>
              <a:t>PERSONAL BUDGET PLANNER  •  HACKATHON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4FA"/>
                </a:solidFill>
                <a:latin typeface="Aptos"/>
              </a:rPr>
              <a:t>01  |  Problem Statement —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4C4"/>
                </a:solidFill>
                <a:latin typeface="Aptos"/>
              </a:rPr>
              <a:t>Screenshots from the project documentation</a:t>
            </a:r>
          </a:p>
        </p:txBody>
      </p:sp>
      <p:pic>
        <p:nvPicPr>
          <p:cNvPr id="4" name="Picture 3" descr="Screenshot (5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0247"/>
            <a:ext cx="5440680" cy="34004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980247"/>
            <a:ext cx="5440680" cy="3400425"/>
          </a:xfrm>
          <a:prstGeom prst="rect">
            <a:avLst/>
          </a:prstGeom>
          <a:noFill/>
          <a:ln w="12700">
            <a:solidFill>
              <a:srgbClr val="3E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(5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37397"/>
            <a:ext cx="5257800" cy="3286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0" y="2037397"/>
            <a:ext cx="5257800" cy="3286125"/>
          </a:xfrm>
          <a:prstGeom prst="rect">
            <a:avLst/>
          </a:prstGeom>
          <a:noFill/>
          <a:ln w="12700">
            <a:solidFill>
              <a:srgbClr val="3E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6B4C4"/>
                </a:solidFill>
                <a:latin typeface="Aptos"/>
              </a:rPr>
              <a:t>PERSONAL BUDGET PLANNER  •  HACKATHON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4FA"/>
                </a:solidFill>
                <a:latin typeface="Aptos"/>
              </a:rPr>
              <a:t>02  |  Solution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4C4"/>
                </a:solidFill>
                <a:latin typeface="Aptos"/>
              </a:rPr>
              <a:t>A practical budgeting workspace that turns spending records into visibility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FF4FA"/>
                </a:solidFill>
                <a:latin typeface="Aptos"/>
              </a:rPr>
              <a:t>We built a Personal Budget Planner web app using Python + Streamlit that gives users control of their monthly finances in one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2514600" cy="14173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14600"/>
            <a:ext cx="54864" cy="1417320"/>
          </a:xfrm>
          <a:prstGeom prst="rect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679192"/>
            <a:ext cx="21305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01  Set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118104"/>
            <a:ext cx="21305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Define a monthly spending limit and persist it across refreshes.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514600"/>
            <a:ext cx="2514600" cy="14173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514600"/>
            <a:ext cx="54864" cy="1417320"/>
          </a:xfrm>
          <a:prstGeom prst="rect">
            <a:avLst/>
          </a:prstGeom>
          <a:solidFill>
            <a:srgbClr val="3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679192"/>
            <a:ext cx="21305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02  Add Expenses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118104"/>
            <a:ext cx="21305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Record amount, category, description and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514600"/>
            <a:ext cx="2514600" cy="14173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514600"/>
            <a:ext cx="54864" cy="141732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679192"/>
            <a:ext cx="21305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03  Manage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118104"/>
            <a:ext cx="21305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View and delete incorrect entries with real-time updates.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514600"/>
            <a:ext cx="2514600" cy="14173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2514600"/>
            <a:ext cx="54864" cy="1417320"/>
          </a:xfrm>
          <a:prstGeom prst="rect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2679192"/>
            <a:ext cx="21305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04  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3118104"/>
            <a:ext cx="213055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See budget, total spent, remaining budget and category charts.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6B4C4"/>
                </a:solidFill>
                <a:latin typeface="Aptos"/>
              </a:rPr>
              <a:t>The result: a simple, persistent and visual budget-management tool for everyday spending.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6B4C4"/>
                </a:solidFill>
                <a:latin typeface="Aptos"/>
              </a:rPr>
              <a:t>PERSONAL BUDGET PLANNER  •  HACKATHON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4FA"/>
                </a:solidFill>
                <a:latin typeface="Aptos"/>
              </a:rPr>
              <a:t>02  | 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4C4"/>
                </a:solidFill>
                <a:latin typeface="Aptos"/>
              </a:rPr>
              <a:t>What the implemented application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154680" cy="14173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4864" cy="1417320"/>
          </a:xfrm>
          <a:prstGeom prst="rect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2770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Monthly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27706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User enters a planned monthly budget; it is persisted in budget.json.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3154680" cy="14173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417320"/>
            <a:ext cx="54864" cy="1417320"/>
          </a:xfrm>
          <a:prstGeom prst="rect">
            <a:avLst/>
          </a:prstGeom>
          <a:solidFill>
            <a:srgbClr val="3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581912"/>
            <a:ext cx="2770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Expense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020824"/>
            <a:ext cx="27706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Each entry captures amount, category, description and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417320"/>
            <a:ext cx="3154680" cy="14173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417320"/>
            <a:ext cx="54864" cy="141732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1581912"/>
            <a:ext cx="2770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2020824"/>
            <a:ext cx="27706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Invalid input is rejected with clear error messages.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46120"/>
            <a:ext cx="3154680" cy="14173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246120"/>
            <a:ext cx="54864" cy="1417320"/>
          </a:xfrm>
          <a:prstGeom prst="rect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410712"/>
            <a:ext cx="2770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Persistent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849624"/>
            <a:ext cx="27706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Expenses are stored in expenses.csv and survive refreshes.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246120"/>
            <a:ext cx="3154680" cy="14173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3246120"/>
            <a:ext cx="54864" cy="1417320"/>
          </a:xfrm>
          <a:prstGeom prst="rect">
            <a:avLst/>
          </a:prstGeom>
          <a:solidFill>
            <a:srgbClr val="FF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3410712"/>
            <a:ext cx="2770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Delete / Edit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849624"/>
            <a:ext cx="27706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Users can remove incorrect expense entries instantly.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246120"/>
            <a:ext cx="3154680" cy="14173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3246120"/>
            <a:ext cx="54864" cy="1417320"/>
          </a:xfrm>
          <a:prstGeom prst="rect">
            <a:avLst/>
          </a:prstGeom>
          <a:solidFill>
            <a:srgbClr val="FF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8" y="3410712"/>
            <a:ext cx="2770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Overspend Warning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3849624"/>
            <a:ext cx="27706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A visual warning appears when spending exceeds the budget.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6B4C4"/>
                </a:solidFill>
                <a:latin typeface="Aptos"/>
              </a:rPr>
              <a:t>PERSONAL BUDGET PLANNER  •  HACKATHON SUBMISSION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4FA"/>
                </a:solidFill>
                <a:latin typeface="Aptos"/>
              </a:rPr>
              <a:t>02  |  Analytics &amp; Better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4C4"/>
                </a:solidFill>
                <a:latin typeface="Aptos"/>
              </a:rPr>
              <a:t>From raw transactions to quick financial awareness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132588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4864" cy="1325880"/>
          </a:xfrm>
          <a:prstGeom prst="rect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48280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Summary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482803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Three at-a-glance metrics: Monthly Budget, Total Spent and Remaining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5212080" cy="132588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71800"/>
            <a:ext cx="54864" cy="1325880"/>
          </a:xfrm>
          <a:prstGeom prst="rect">
            <a:avLst/>
          </a:prstGeom>
          <a:solidFill>
            <a:srgbClr val="3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136392"/>
            <a:ext cx="48280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Category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75304"/>
            <a:ext cx="482803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A bar chart shows how spending is distributed across categories.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26280"/>
            <a:ext cx="5212080" cy="132588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526280"/>
            <a:ext cx="54864" cy="132588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690872"/>
            <a:ext cx="48280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Expanded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129784"/>
            <a:ext cx="4828032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Healthcare and Entertainment were added alongside Food, Travel, Shopping and Education.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5074920" cy="4434840"/>
          </a:xfrm>
          <a:prstGeom prst="roundRect">
            <a:avLst/>
          </a:prstGeom>
          <a:solidFill>
            <a:srgbClr val="141C28"/>
          </a:solidFill>
          <a:ln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373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Budget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3317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Monthly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3317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EFF4FA"/>
                </a:solidFill>
                <a:latin typeface="Aptos"/>
              </a:rPr>
              <a:t>$2,000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715768"/>
            <a:ext cx="4251960" cy="164592"/>
          </a:xfrm>
          <a:prstGeom prst="roundRect">
            <a:avLst/>
          </a:prstGeom>
          <a:solidFill>
            <a:srgbClr val="2F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20840" y="2715768"/>
            <a:ext cx="4251960" cy="164592"/>
          </a:xfrm>
          <a:prstGeom prst="roundRect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39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Total Spent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291839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EFF4FA"/>
                </a:solidFill>
                <a:latin typeface="Aptos"/>
              </a:rPr>
              <a:t>$850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3675887"/>
            <a:ext cx="4251960" cy="164592"/>
          </a:xfrm>
          <a:prstGeom prst="roundRect">
            <a:avLst/>
          </a:prstGeom>
          <a:solidFill>
            <a:srgbClr val="2F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3675887"/>
            <a:ext cx="1807083" cy="164592"/>
          </a:xfrm>
          <a:prstGeom prst="round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25196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Remaining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251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EFF4FA"/>
                </a:solidFill>
                <a:latin typeface="Aptos"/>
              </a:rPr>
              <a:t>$1,150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636008"/>
            <a:ext cx="4251960" cy="164592"/>
          </a:xfrm>
          <a:prstGeom prst="roundRect">
            <a:avLst/>
          </a:prstGeom>
          <a:solidFill>
            <a:srgbClr val="2F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4636008"/>
            <a:ext cx="2444877" cy="164592"/>
          </a:xfrm>
          <a:prstGeom prst="roundRect">
            <a:avLst/>
          </a:prstGeom>
          <a:solidFill>
            <a:srgbClr val="3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6B4C4"/>
                </a:solidFill>
                <a:latin typeface="Aptos"/>
              </a:rPr>
              <a:t>PERSONAL BUDGET PLANNER  •  HACKATHON 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4FA"/>
                </a:solidFill>
                <a:latin typeface="Aptos"/>
              </a:rPr>
              <a:t>02  |  Intelligent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4C4"/>
                </a:solidFill>
                <a:latin typeface="Aptos"/>
              </a:rPr>
              <a:t>AI, cloud and predictive capabilities described for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429768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4864" cy="4297680"/>
          </a:xfrm>
          <a:prstGeom prst="rect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29992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AI-Driven Insights &amp;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IBM watsonx / Watson AI capabilities can parse natural-language transaction inputs such as “spent 500 on groceries”, automatically categorize spending, and provide personalized financial tips.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429768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54864" cy="4297680"/>
          </a:xfrm>
          <a:prstGeom prst="rect">
            <a:avLst/>
          </a:prstGeom>
          <a:solidFill>
            <a:srgbClr val="3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581912"/>
            <a:ext cx="29992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Scalable &amp; Secure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020824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IBM Cloud databases/services are intended to support secure, encrypted financial-data storage with real-time accessibility.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417320"/>
            <a:ext cx="3383280" cy="429768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9016" y="1417320"/>
            <a:ext cx="54864" cy="429768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581912"/>
            <a:ext cx="29992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Intelligent Analytics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2020824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Transaction history can be processed for budget forecasts and visual alerts when spending approaches preset category limits.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A6B4C4"/>
                </a:solidFill>
                <a:latin typeface="Aptos"/>
              </a:rPr>
              <a:t>These capabilities extend the core budgeting workflow from recording expenses toward assisted financial awareness.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6B4C4"/>
                </a:solidFill>
                <a:latin typeface="Aptos"/>
              </a:rPr>
              <a:t>PERSONAL BUDGET PLANNER  •  HACKATHON SUBMISSION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4FA"/>
                </a:solidFill>
                <a:latin typeface="Aptos"/>
              </a:rPr>
              <a:t>02  |  Solution — Implementation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4C4"/>
                </a:solidFill>
                <a:latin typeface="Aptos"/>
              </a:rPr>
              <a:t>Screenshots of the implemented solution and architecture</a:t>
            </a:r>
          </a:p>
        </p:txBody>
      </p:sp>
      <p:pic>
        <p:nvPicPr>
          <p:cNvPr id="4" name="Picture 3" descr="Screenshot (5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5" y="1417320"/>
            <a:ext cx="3584448" cy="2240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2475" y="1417320"/>
            <a:ext cx="3584448" cy="2240280"/>
          </a:xfrm>
          <a:prstGeom prst="rect">
            <a:avLst/>
          </a:prstGeom>
          <a:noFill/>
          <a:ln w="12700">
            <a:solidFill>
              <a:srgbClr val="3E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(5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16" y="1417320"/>
            <a:ext cx="3584448" cy="2240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00316" y="1417320"/>
            <a:ext cx="3584448" cy="2240280"/>
          </a:xfrm>
          <a:prstGeom prst="rect">
            <a:avLst/>
          </a:prstGeom>
          <a:noFill/>
          <a:ln w="12700">
            <a:solidFill>
              <a:srgbClr val="3E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(55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475" y="3977639"/>
            <a:ext cx="3584448" cy="2240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22475" y="3977639"/>
            <a:ext cx="3584448" cy="2240280"/>
          </a:xfrm>
          <a:prstGeom prst="rect">
            <a:avLst/>
          </a:prstGeom>
          <a:noFill/>
          <a:ln w="12700">
            <a:solidFill>
              <a:srgbClr val="3E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(56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316" y="3977639"/>
            <a:ext cx="3584448" cy="2240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100316" y="3977639"/>
            <a:ext cx="3584448" cy="2240280"/>
          </a:xfrm>
          <a:prstGeom prst="rect">
            <a:avLst/>
          </a:prstGeom>
          <a:noFill/>
          <a:ln w="12700">
            <a:solidFill>
              <a:srgbClr val="3E4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6B4C4"/>
                </a:solidFill>
                <a:latin typeface="Aptos"/>
              </a:rPr>
              <a:t>PERSONAL BUDGET PLANNER  •  HACKATHON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4FA"/>
                </a:solidFill>
                <a:latin typeface="Aptos"/>
              </a:rPr>
              <a:t>03  | 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4C4"/>
                </a:solidFill>
                <a:latin typeface="Aptos"/>
              </a:rPr>
              <a:t>Separation of UI, business logic, validation and persistence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2194560" cy="777240"/>
          </a:xfrm>
          <a:prstGeom prst="roundRect">
            <a:avLst/>
          </a:prstGeom>
          <a:solidFill>
            <a:srgbClr val="141C28"/>
          </a:solidFill>
          <a:ln>
            <a:solidFill>
              <a:srgbClr val="3F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FF4FA"/>
                </a:solidFill>
                <a:latin typeface="Aptos"/>
              </a:rPr>
              <a:t>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1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6B4C4"/>
                </a:solidFill>
                <a:latin typeface="Aptos"/>
              </a:rPr>
              <a:t>Streamlit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554480"/>
            <a:ext cx="2194560" cy="777240"/>
          </a:xfrm>
          <a:prstGeom prst="roundRect">
            <a:avLst/>
          </a:prstGeom>
          <a:solidFill>
            <a:srgbClr val="141C28"/>
          </a:solidFill>
          <a:ln>
            <a:solidFill>
              <a:srgbClr val="37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691639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FF4FA"/>
                </a:solidFill>
                <a:latin typeface="Aptos"/>
              </a:rPr>
              <a:t>budget_planner.py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93391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6B4C4"/>
                </a:solidFill>
                <a:latin typeface="Aptos"/>
              </a:rPr>
              <a:t>Core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554480"/>
            <a:ext cx="2194560" cy="777240"/>
          </a:xfrm>
          <a:prstGeom prst="roundRect">
            <a:avLst/>
          </a:prstGeom>
          <a:solidFill>
            <a:srgbClr val="141C28"/>
          </a:solidFill>
          <a:ln>
            <a:solidFill>
              <a:srgbClr val="FF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691639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FF4FA"/>
                </a:solidFill>
                <a:latin typeface="Aptos"/>
              </a:rP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993391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6B4C4"/>
                </a:solidFill>
                <a:latin typeface="Aptos"/>
              </a:rPr>
              <a:t>JSON / 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71800" y="1938528"/>
            <a:ext cx="2011680" cy="0"/>
          </a:xfrm>
          <a:prstGeom prst="line">
            <a:avLst/>
          </a:prstGeom>
          <a:ln w="25400">
            <a:solidFill>
              <a:srgbClr val="A6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78040" y="1938528"/>
            <a:ext cx="2011680" cy="0"/>
          </a:xfrm>
          <a:prstGeom prst="line">
            <a:avLst/>
          </a:prstGeom>
          <a:ln w="25400">
            <a:solidFill>
              <a:srgbClr val="A6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43000" y="3794760"/>
            <a:ext cx="2148840" cy="868680"/>
          </a:xfrm>
          <a:prstGeom prst="roundRect">
            <a:avLst/>
          </a:prstGeom>
          <a:solidFill>
            <a:srgbClr val="1B2534"/>
          </a:solidFill>
          <a:ln>
            <a:solidFill>
              <a:srgbClr val="36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95935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FF4FA"/>
                </a:solidFill>
                <a:latin typeface="Aptos"/>
              </a:rPr>
              <a:t>expense.py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251960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6B4C4"/>
                </a:solidFill>
                <a:latin typeface="Aptos"/>
              </a:rPr>
              <a:t>Expense data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94760"/>
            <a:ext cx="2148840" cy="868680"/>
          </a:xfrm>
          <a:prstGeom prst="roundRect">
            <a:avLst/>
          </a:prstGeom>
          <a:solidFill>
            <a:srgbClr val="1B2534"/>
          </a:solidFill>
          <a:ln>
            <a:solidFill>
              <a:srgbClr val="36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95935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FF4FA"/>
                </a:solidFill>
                <a:latin typeface="Aptos"/>
              </a:rPr>
              <a:t>validator.py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251960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6B4C4"/>
                </a:solidFill>
                <a:latin typeface="Aptos"/>
              </a:rPr>
              <a:t>Input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794760"/>
            <a:ext cx="2148840" cy="868680"/>
          </a:xfrm>
          <a:prstGeom prst="roundRect">
            <a:avLst/>
          </a:prstGeom>
          <a:solidFill>
            <a:srgbClr val="1B2534"/>
          </a:solidFill>
          <a:ln>
            <a:solidFill>
              <a:srgbClr val="36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395935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FF4FA"/>
                </a:solidFill>
                <a:latin typeface="Aptos"/>
              </a:rPr>
              <a:t>exceptions.py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251960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A6B4C4"/>
                </a:solidFill>
                <a:latin typeface="Aptos"/>
              </a:rPr>
              <a:t>Error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57800"/>
            <a:ext cx="10149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B4C4"/>
                </a:solidFill>
                <a:latin typeface="Aptos"/>
              </a:rPr>
              <a:t>OOP-based business logic stays separate from the Streamlit presentation layer, making the application easier to validate, maintain and extend.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6B4C4"/>
                </a:solidFill>
                <a:latin typeface="Aptos"/>
              </a:rPr>
              <a:t>PERSONAL BUDGET PLANNER  •  HACKATHON SUBMISSION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4FA"/>
                </a:solidFill>
                <a:latin typeface="Aptos"/>
              </a:rPr>
              <a:t>04  |  Problem → Solution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4C4"/>
                </a:solidFill>
                <a:latin typeface="Aptos"/>
              </a:rPr>
              <a:t>Each major pain point is addressed by a concrete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6B4C4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2588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6B4C4"/>
                </a:solidFill>
                <a:latin typeface="Aptos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6B4C4"/>
                </a:solidFill>
                <a:latin typeface="Aptos"/>
              </a:rPr>
              <a:t>USER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35640" cy="658368"/>
          </a:xfrm>
          <a:prstGeom prst="round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FF4FA"/>
                </a:solidFill>
                <a:latin typeface="Aptos"/>
              </a:rPr>
              <a:t>No budget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0195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Monthly budget input + persistent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901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Budget becomes an explicit spending limit.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78608"/>
            <a:ext cx="10835640" cy="658368"/>
          </a:xfrm>
          <a:prstGeom prst="roundRect">
            <a:avLst/>
          </a:prstGeom>
          <a:solidFill>
            <a:srgbClr val="1B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FF4FA"/>
                </a:solidFill>
                <a:latin typeface="Aptos"/>
              </a:rPr>
              <a:t>No expense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Add expense workflow + persistent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743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Spending is captured instead of forgotten.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19856"/>
            <a:ext cx="10835640" cy="658368"/>
          </a:xfrm>
          <a:prstGeom prst="round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844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FF4FA"/>
                </a:solidFill>
                <a:latin typeface="Aptos"/>
              </a:rPr>
              <a:t>No category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58444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Category fields + breakdown 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58444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Users can see where money goes.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61104"/>
            <a:ext cx="10835640" cy="658368"/>
          </a:xfrm>
          <a:prstGeom prst="roundRect">
            <a:avLst/>
          </a:prstGeom>
          <a:solidFill>
            <a:srgbClr val="1B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25696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FF4FA"/>
                </a:solidFill>
                <a:latin typeface="Aptos"/>
              </a:rPr>
              <a:t>No overspend warning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425696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Budget comparison + visual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42569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Users are warned when spending exceeds budget.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02352"/>
            <a:ext cx="10835640" cy="658368"/>
          </a:xfrm>
          <a:prstGeom prst="round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26694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FF4FA"/>
                </a:solidFill>
                <a:latin typeface="Aptos"/>
              </a:rPr>
              <a:t>Limited categories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266944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Healthcare + Entertainment added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52669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The model better reflects everyday expenses.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6B4C4"/>
                </a:solidFill>
                <a:latin typeface="Aptos"/>
              </a:rPr>
              <a:t>PERSONAL BUDGET PLANNER  •  HACKATHON 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4C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FAAFF"/>
                </a:solidFill>
                <a:latin typeface="Aptos"/>
              </a:rPr>
              <a:t>FROM SPENDING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72768"/>
            <a:ext cx="8869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FF4FA"/>
                </a:solidFill>
                <a:latin typeface="Aptos"/>
              </a:rPr>
              <a:t>TO FINANCIAL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60604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6B4C4"/>
                </a:solidFill>
                <a:latin typeface="Aptos"/>
              </a:rPr>
              <a:t>A focused budgeting experience that makes monthly spending easier to record, understand and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3977639"/>
            <a:ext cx="3200400" cy="11887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3977639"/>
            <a:ext cx="54864" cy="1188720"/>
          </a:xfrm>
          <a:prstGeom prst="rect">
            <a:avLst/>
          </a:prstGeom>
          <a:solidFill>
            <a:srgbClr val="3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42231"/>
            <a:ext cx="2816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81144"/>
            <a:ext cx="28163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Clean workflow built around everyday budgeting.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77639"/>
            <a:ext cx="3200400" cy="11887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3977639"/>
            <a:ext cx="54864" cy="1188720"/>
          </a:xfrm>
          <a:prstGeom prst="rect">
            <a:avLst/>
          </a:prstGeom>
          <a:solidFill>
            <a:srgbClr val="37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4142231"/>
            <a:ext cx="2816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Persistent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4581144"/>
            <a:ext cx="28163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Budget and expenses remain available after refresh.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0688" y="3977639"/>
            <a:ext cx="3200400" cy="1188720"/>
          </a:xfrm>
          <a:prstGeom prst="roundRect">
            <a:avLst/>
          </a:prstGeom>
          <a:solidFill>
            <a:srgbClr val="141C28"/>
          </a:solidFill>
          <a:ln w="12700">
            <a:solidFill>
              <a:srgbClr val="2C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90688" y="3977639"/>
            <a:ext cx="54864" cy="1188720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1856" y="4142231"/>
            <a:ext cx="2816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4FA"/>
                </a:solidFill>
                <a:latin typeface="Aptos"/>
              </a:rPr>
              <a:t>Insightful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4581144"/>
            <a:ext cx="28163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4C4"/>
                </a:solidFill>
                <a:latin typeface="Aptos"/>
              </a:rPr>
              <a:t>Dashboards and alerts make spending patterns visible.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FF4FA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